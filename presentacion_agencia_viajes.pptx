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42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7A1F4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C98B3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PROPUESTA N°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2E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Base de Datos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2E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Agencia de Viajes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Modelado relacional, normalización, integridad referencial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 consultas SQL avanzadas en MySQL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194560" cy="0"/>
          </a:xfrm>
          <a:prstGeom prst="line">
            <a:avLst/>
          </a:prstGeom>
          <a:noFill/>
          <a:ln w="25400">
            <a:solidFill>
              <a:srgbClr val="C98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9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Nicole Angelina Beltrán Ramírez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166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Técnico en Desarrollo de Software · Complejo Educativo República del Ecuador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Docente: Ing. Reina Díaz Morales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C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Diseñar e implementar una base de datos relacional en MySQL para administrar de forma integral las operaciones de una agencia de viajes: clientes, destinos, guías de turismo, paquetes, reservas y pagos.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4173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2A1B30"/>
          </a:solidFill>
          <a:ln/>
        </p:spPr>
      </p:sp>
      <p:sp>
        <p:nvSpPr>
          <p:cNvPr id="6" name="Text 4"/>
          <p:cNvSpPr/>
          <p:nvPr/>
        </p:nvSpPr>
        <p:spPr>
          <a:xfrm>
            <a:off x="7086600" y="158191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3524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35240" y="185623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entidades relacionadas con integridad referencial completa.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2624328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2A1B30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2788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3524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Normalizar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35240" y="30632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Estructura verificada hasta la Tercera Forma Normal (3FN).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3831336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2A1B30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3995928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35240" y="3950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Consultar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35240" y="42702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consultas SQL: filtros, JOIN, agregaciones y subconsultas.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5038344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2A1B30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520293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51572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Controlar acceso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35240" y="5477256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Usuarios con permisos diferenciados por rol.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C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Entidad-Relación</a:t>
            </a:r>
            <a:endParaRPr lang="en-US" sz="3000" dirty="0"/>
          </a:p>
        </p:txBody>
      </p:sp>
      <p:pic>
        <p:nvPicPr>
          <p:cNvPr id="4" name="Image 0" descr="/mnt/user-data/outputs/er_agencia_viaj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71600"/>
            <a:ext cx="9692640" cy="52838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C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6 tablas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2A1B3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63040"/>
            <a:ext cx="73152" cy="1417320"/>
          </a:xfrm>
          <a:prstGeom prst="rect">
            <a:avLst/>
          </a:prstGeom>
          <a:solidFill>
            <a:srgbClr val="9C346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910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Entidad Principal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Personas que contratan viajes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2A1B3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463040"/>
            <a:ext cx="73152" cy="1417320"/>
          </a:xfrm>
          <a:prstGeom prst="rect">
            <a:avLst/>
          </a:prstGeom>
          <a:solidFill>
            <a:srgbClr val="9C346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5910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paquetes_turisticos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Entidad Principal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240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Ofertas: precio, cupos, fechas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49640" y="1463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2A1B3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1463040"/>
            <a:ext cx="73152" cy="1417320"/>
          </a:xfrm>
          <a:prstGeom prst="rect">
            <a:avLst/>
          </a:prstGeom>
          <a:solidFill>
            <a:srgbClr val="9C3468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15910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Transacción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78240" y="2240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Vincula cliente y paquete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1546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2A1B3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154680"/>
            <a:ext cx="73152" cy="1417320"/>
          </a:xfrm>
          <a:prstGeom prst="rect">
            <a:avLst/>
          </a:prstGeom>
          <a:solidFill>
            <a:srgbClr val="9C346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826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Pago / Movimiento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3931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Pagos asociados a una reserva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1546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2A1B3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154680"/>
            <a:ext cx="73152" cy="1417320"/>
          </a:xfrm>
          <a:prstGeom prst="rect">
            <a:avLst/>
          </a:prstGeom>
          <a:solidFill>
            <a:srgbClr val="C98B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2826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Catálogo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931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Lugares turísticos disponibles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49640" y="31546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2A1B30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9640" y="3154680"/>
            <a:ext cx="73152" cy="1417320"/>
          </a:xfrm>
          <a:prstGeom prst="rect">
            <a:avLst/>
          </a:prstGeom>
          <a:solidFill>
            <a:srgbClr val="C98B3A"/>
          </a:solidFill>
          <a:ln/>
        </p:spPr>
      </p:sp>
      <p:sp>
        <p:nvSpPr>
          <p:cNvPr id="31" name="Text 29"/>
          <p:cNvSpPr/>
          <p:nvPr/>
        </p:nvSpPr>
        <p:spPr>
          <a:xfrm>
            <a:off x="8778240" y="32826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guias_turismo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7824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Catálogo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78240" y="3931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Guías asignados a cada paquete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CALIDAD DEL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C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Normalización aplicada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7A1F4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1FN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490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Primera Forma Normal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1051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Llave primaria en cada tabla y valores atómicos: los idiomas de un guía se guardan en un solo campo, no en columnas repetidas.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7A1F4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26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2FN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907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Segunda Forma Normal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322783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Todos los atributos dependen completamente de la llave primaria; no hay llaves compuestas ni dependencias parciales.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7A1F4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3434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3FN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4325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Tercera Forma Normal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46451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 dependencias transitivas: destinos y guías son catálogos independientes, y pagos se separó de reservas.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REGLAS DEL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C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Integridad referencial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Cardinalidades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 →  reservas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: 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21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paquetes_turisticos  →  reservas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2221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: 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6609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destinos  →  paquetes_turisticos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6609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: 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998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guias_turismo  →  paquetes_turisticos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30998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: 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5387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reservas  →  pagos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5387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: 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0" cy="4480560"/>
          </a:xfrm>
          <a:prstGeom prst="line">
            <a:avLst/>
          </a:prstGeom>
          <a:noFill/>
          <a:ln w="12700">
            <a:solidFill>
              <a:srgbClr val="4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Reglas ON DELETE / ON UPDATE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78308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66560" y="21671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reservas.id_cliente, pagos.id_reserva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24414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Elimina en cadena registros dependientes.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2990088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66560" y="33741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paquetes.id_destino/id_guia, reservas.id_paquete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36484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Evita borrar catálogos con datos asociados.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4197096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4288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CASCADE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45811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todas las FK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48554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Propaga el cambio de un ID a las tablas hijas.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C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Usuarios y permisos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18520" cy="292608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  <a:gridCol w="1005840"/>
                <a:gridCol w="1005840"/>
                <a:gridCol w="1280160"/>
                <a:gridCol w="37947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Usuario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SELECT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INSERT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UPDATE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ALTER/DROP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Descripción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admin_agencia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27A"/>
                          </a:solidFill>
                        </a:rPr>
                        <a:t>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27A"/>
                          </a:solidFill>
                        </a:rPr>
                        <a:t>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27A"/>
                          </a:solidFill>
                        </a:rPr>
                        <a:t>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27A"/>
                          </a:solidFill>
                        </a:rPr>
                        <a:t>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27A"/>
                          </a:solidFill>
                        </a:rPr>
                        <a:t>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2E6EF"/>
                          </a:solidFill>
                        </a:rPr>
                        <a:t>Control total sobre la base de datos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operador_agencia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27A"/>
                          </a:solidFill>
                        </a:rPr>
                        <a:t>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27A"/>
                          </a:solidFill>
                        </a:rPr>
                        <a:t>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27A"/>
                          </a:solidFill>
                        </a:rPr>
                        <a:t>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274"/>
                          </a:solidFill>
                        </a:rPr>
                        <a:t>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274"/>
                          </a:solidFill>
                        </a:rPr>
                        <a:t>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2E6EF"/>
                          </a:solidFill>
                        </a:rPr>
                        <a:t>Personal de la agencia: registra y actualiza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E6EF"/>
                          </a:solidFill>
                        </a:rPr>
                        <a:t>docente_agencia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27A"/>
                          </a:solidFill>
                        </a:rPr>
                        <a:t>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274"/>
                          </a:solidFill>
                        </a:rPr>
                        <a:t>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274"/>
                          </a:solidFill>
                        </a:rPr>
                        <a:t>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274"/>
                          </a:solidFill>
                        </a:rPr>
                        <a:t>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274"/>
                          </a:solidFill>
                        </a:rPr>
                        <a:t>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2E6EF"/>
                          </a:solidFill>
                        </a:rPr>
                        <a:t>Solo lectura, para revisión del proyecto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47091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Los tres usuarios se crean con DROP USER IF EXISTS + CREATE USER, y sus permisos se aplican con GRANT / REVOKE, confirmados con FLUSH PRIVILEGES.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EXPLOTACIÓN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C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consultas SQL estandarizadas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INSERT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0060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01–04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Alta de cliente, paquete, reserva y pago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6988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05–07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Filtros por ciudad, precio y rango de fechas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670048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61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 / DELETE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7614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08–10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0815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Actualizar cupo, cambiar estado, eliminar registro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2670048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761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69880" y="27614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11–13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0815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Reserva + cliente, detalle completo, pagos + reservas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922776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14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LEFT JOIN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0142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14–15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33425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Clientes y paquetes sin transacciones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3922776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014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AGREGACIÓN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469880" y="40142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16–18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33425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Ingresos totales, promedio, top 3 paquetes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5175504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2669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HAVING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52669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558698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Clientes frecuentes (más de 1 reserva)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5175504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2A1B30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52669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2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SUBCONSULTA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69880" y="52669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558698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Cliente con mayor gasto total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B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C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de la base de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7A1F4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27048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 → Data Export en MySQL Workbench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6384" y="1892808"/>
            <a:ext cx="0" cy="320040"/>
          </a:xfrm>
          <a:prstGeom prst="line">
            <a:avLst/>
          </a:prstGeom>
          <a:noFill/>
          <a:ln w="12700">
            <a:solidFill>
              <a:srgbClr val="4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21992"/>
            <a:ext cx="384048" cy="384048"/>
          </a:xfrm>
          <a:prstGeom prst="ellipse">
            <a:avLst/>
          </a:prstGeom>
          <a:solidFill>
            <a:srgbClr val="7A1F4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24028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Seleccionar el esquema agencia_viajes completo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" y="2606040"/>
            <a:ext cx="0" cy="320040"/>
          </a:xfrm>
          <a:prstGeom prst="line">
            <a:avLst/>
          </a:prstGeom>
          <a:noFill/>
          <a:ln w="12700">
            <a:solidFill>
              <a:srgbClr val="4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935224"/>
            <a:ext cx="384048" cy="384048"/>
          </a:xfrm>
          <a:prstGeom prst="ellipse">
            <a:avLst/>
          </a:prstGeom>
          <a:solidFill>
            <a:srgbClr val="7A1F4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95351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Export to Self-Contained File + Include Create Schema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6384" y="3319272"/>
            <a:ext cx="0" cy="320040"/>
          </a:xfrm>
          <a:prstGeom prst="line">
            <a:avLst/>
          </a:prstGeom>
          <a:noFill/>
          <a:ln w="12700">
            <a:solidFill>
              <a:srgbClr val="4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648456"/>
            <a:ext cx="384048" cy="384048"/>
          </a:xfrm>
          <a:prstGeom prst="ellipse">
            <a:avLst/>
          </a:prstGeom>
          <a:solidFill>
            <a:srgbClr val="7A1F4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66674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Start Export y confirmar finalización exitosa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86384" y="4032504"/>
            <a:ext cx="0" cy="320040"/>
          </a:xfrm>
          <a:prstGeom prst="line">
            <a:avLst/>
          </a:prstGeom>
          <a:noFill/>
          <a:ln w="12700">
            <a:solidFill>
              <a:srgbClr val="4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361688"/>
            <a:ext cx="384048" cy="384048"/>
          </a:xfrm>
          <a:prstGeom prst="ellipse">
            <a:avLst/>
          </a:prstGeom>
          <a:solidFill>
            <a:srgbClr val="7A1F4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37997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6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Validar restaurando en un esquema de prueba (Data Import)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5212080"/>
            <a:ext cx="10835640" cy="594360"/>
          </a:xfrm>
          <a:prstGeom prst="roundRect">
            <a:avLst>
              <a:gd name="adj" fmla="val 9231"/>
            </a:avLst>
          </a:prstGeom>
          <a:solidFill>
            <a:srgbClr val="2A1B3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120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Archivo final: backup_agencia-viajes_nicole-beltran.sql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7A1F4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C98B3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E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Sistema de Base de Datos — Agencia de Viajes · Propuesta N° 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2194560" cy="0"/>
          </a:xfrm>
          <a:prstGeom prst="line">
            <a:avLst/>
          </a:prstGeom>
          <a:noFill/>
          <a:ln w="25400">
            <a:solidFill>
              <a:srgbClr val="C98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Nicole Angelina Beltrán Ramírez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8C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Repositorio disponible en GitHub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2026-07-17T02:55:13Z</dcterms:created>
  <dcterms:modified xsi:type="dcterms:W3CDTF">2026-07-17T02:55:13Z</dcterms:modified>
</cp:coreProperties>
</file>